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623" y="4392271"/>
            <a:ext cx="6695577" cy="369332"/>
            <a:chOff x="4013321" y="3753992"/>
            <a:chExt cx="6695577" cy="369332"/>
          </a:xfrm>
          <a:noFill/>
        </p:grpSpPr>
        <p:sp>
          <p:nvSpPr>
            <p:cNvPr id="3" name="TextBox 3"/>
            <p:cNvSpPr txBox="1"/>
            <p:nvPr/>
          </p:nvSpPr>
          <p:spPr>
            <a:xfrm>
              <a:off x="4013321" y="3753992"/>
              <a:ext cx="2580777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dirty="0">
                  <a:solidFill>
                    <a:srgbClr val="ED374D"/>
                  </a:solidFill>
                  <a:latin typeface="思源黑体 Normal"/>
                </a:rPr>
                <a:t>SAI SRIKAR BOMMISETTY</a:t>
              </a:r>
              <a:endParaRPr lang="en-US" sz="1100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203698" y="3753992"/>
              <a:ext cx="3505200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en-US" sz="1800" b="0" i="0" u="none" baseline="0" dirty="0">
                  <a:solidFill>
                    <a:srgbClr val="ED374D"/>
                  </a:solidFill>
                  <a:latin typeface="思源黑体 Normal"/>
                  <a:ea typeface="思源黑体 Normal"/>
                </a:rPr>
                <a:t>Date:2026-03-24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211455" y="4406241"/>
            <a:ext cx="354330" cy="35433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55670" y="4406241"/>
            <a:ext cx="354330" cy="35433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238125" y="883285"/>
            <a:ext cx="7868285" cy="20504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i="0" u="none" spc="300" baseline="0" dirty="0">
                <a:ln w="38100"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YouTube Performance&amp; Engagement Analytics Dashboard</a:t>
            </a:r>
          </a:p>
        </p:txBody>
      </p:sp>
      <p:sp>
        <p:nvSpPr>
          <p:cNvPr id="8" name="AutoShape 8"/>
          <p:cNvSpPr/>
          <p:nvPr/>
        </p:nvSpPr>
        <p:spPr>
          <a:xfrm>
            <a:off x="9220200" y="6469626"/>
            <a:ext cx="36576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ctr">
              <a:defRPr/>
            </a:pPr>
            <a:r>
              <a:rPr lang="en-US" sz="800" b="0" i="0" u="none" baseline="0" dirty="0">
                <a:solidFill>
                  <a:srgbClr val="808080"/>
                </a:solidFill>
                <a:latin typeface="Microsoft YaHei"/>
                <a:ea typeface="Microsoft YaHei"/>
              </a:rPr>
              <a:t>Created By </a:t>
            </a:r>
            <a:r>
              <a:rPr lang="en-US" sz="800" b="1" i="0" u="none" baseline="0" dirty="0">
                <a:solidFill>
                  <a:srgbClr val="808080"/>
                </a:solidFill>
                <a:latin typeface="Microsoft YaHei"/>
                <a:ea typeface="Microsoft YaHei"/>
              </a:rPr>
              <a:t>SAI SRIKAR BOMMISETTY</a:t>
            </a:r>
            <a:endParaRPr lang="en-US" sz="1100" b="1" dirty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5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0569" y="1687558"/>
            <a:ext cx="6316451" cy="638468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Project Overview &amp; Objectives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207510" y="1585529"/>
            <a:ext cx="983366" cy="858176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00569" y="2435568"/>
            <a:ext cx="6316451" cy="638468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Data Foundation &amp; Preparation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207510" y="2305996"/>
            <a:ext cx="983366" cy="858176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400569" y="3155409"/>
            <a:ext cx="6316451" cy="638468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Key Metrics &amp; Advanced Analysis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207510" y="3053380"/>
            <a:ext cx="983366" cy="858176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5400569" y="3875251"/>
            <a:ext cx="6316451" cy="638468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Visualizations &amp; Key Findings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207510" y="3773221"/>
            <a:ext cx="983366" cy="858176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400569" y="4596970"/>
            <a:ext cx="6316451" cy="638468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Conclusion &amp; Future Scope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207510" y="4494940"/>
            <a:ext cx="983366" cy="858176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10260" y="2344420"/>
            <a:ext cx="3133725" cy="15709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96000"/>
              </a:lnSpc>
              <a:defRPr/>
            </a:pPr>
            <a:r>
              <a:rPr lang="en-US" sz="6640" b="0" i="0" u="none" spc="-442" baseline="0">
                <a:solidFill>
                  <a:srgbClr val="C21227"/>
                </a:solidFill>
                <a:latin typeface="思源黑体 Medium"/>
                <a:ea typeface="思源黑体 Medium"/>
              </a:rPr>
              <a:t>Contents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890" y="2864485"/>
            <a:ext cx="2138680" cy="13068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-01-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558030" y="2144395"/>
            <a:ext cx="6959600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C21227"/>
                </a:solidFill>
                <a:latin typeface="思源黑体 Medium"/>
                <a:ea typeface="思源黑体 Medium"/>
              </a:rPr>
              <a:t>Project Overview &amp; Objectives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44437"/>
            <a:ext cx="8546995" cy="3514016"/>
          </a:xfrm>
          <a:prstGeom prst="rect">
            <a:avLst/>
          </a:prstGeom>
          <a:solidFill>
            <a:srgbClr val="FBE4E7"/>
          </a:solidFill>
          <a:ln>
            <a:noFill/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1.jpeg"/>
          <p:cNvPicPr>
            <a:picLocks noChangeAspect="1"/>
          </p:cNvPicPr>
          <p:nvPr/>
        </p:nvPicPr>
        <p:blipFill>
          <a:blip r:embed="rId3"/>
          <a:srcRect l="25558" r="25558"/>
          <a:stretch>
            <a:fillRect/>
          </a:stretch>
        </p:blipFill>
        <p:spPr>
          <a:xfrm>
            <a:off x="7738393" y="1233489"/>
            <a:ext cx="3614383" cy="4932362"/>
          </a:xfrm>
          <a:prstGeom prst="rect">
            <a:avLst/>
          </a:pr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4" name="Group 4"/>
          <p:cNvGrpSpPr/>
          <p:nvPr/>
        </p:nvGrpSpPr>
        <p:grpSpPr>
          <a:xfrm>
            <a:off x="1033727" y="2815265"/>
            <a:ext cx="6479540" cy="2372360"/>
            <a:chOff x="1230" y="4433"/>
            <a:chExt cx="10204" cy="3736"/>
          </a:xfrm>
        </p:grpSpPr>
        <p:sp>
          <p:nvSpPr>
            <p:cNvPr id="5" name="TextBox 5"/>
            <p:cNvSpPr txBox="1"/>
            <p:nvPr/>
          </p:nvSpPr>
          <p:spPr>
            <a:xfrm>
              <a:off x="1230" y="5283"/>
              <a:ext cx="10205" cy="2887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35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project analyzes YouTube data to uncover patterns in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engagement, performance,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and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content trends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. It highlights the critical importance of data-driven decisions for content creators and marketers to optimize their strategies effectively.</a:t>
              </a:r>
              <a:endParaRPr lang="en-US" sz="110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30" y="4433"/>
              <a:ext cx="10205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Analyzing YouTube Data for Strategic Insights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Project Purpose &amp; Importance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1.jpeg"/>
          <p:cNvPicPr>
            <a:picLocks noChangeAspect="1"/>
          </p:cNvPicPr>
          <p:nvPr/>
        </p:nvPicPr>
        <p:blipFill>
          <a:blip r:embed="rId3"/>
          <a:srcRect l="30827" r="30827"/>
          <a:stretch>
            <a:fillRect/>
          </a:stretch>
        </p:blipFill>
        <p:spPr>
          <a:xfrm>
            <a:off x="1432511" y="1553595"/>
            <a:ext cx="3084186" cy="4519043"/>
          </a:xfrm>
          <a:custGeom>
            <a:avLst/>
            <a:gdLst/>
            <a:ahLst/>
            <a:cxnLst/>
            <a:rect l="0" t="0" r="0" b="0"/>
            <a:pathLst>
              <a:path w="5467" h="7035">
                <a:moveTo>
                  <a:pt x="2734" y="0"/>
                </a:moveTo>
                <a:cubicBezTo>
                  <a:pt x="4243" y="0"/>
                  <a:pt x="5467" y="1224"/>
                  <a:pt x="5467" y="2734"/>
                </a:cubicBezTo>
                <a:lnTo>
                  <a:pt x="5467" y="7035"/>
                </a:lnTo>
                <a:lnTo>
                  <a:pt x="0" y="7035"/>
                </a:lnTo>
                <a:lnTo>
                  <a:pt x="0" y="2734"/>
                </a:lnTo>
                <a:cubicBezTo>
                  <a:pt x="0" y="1224"/>
                  <a:pt x="1224" y="0"/>
                  <a:pt x="2734" y="0"/>
                </a:cubicBezTo>
                <a:close/>
              </a:path>
            </a:pathLst>
          </a:custGeom>
        </p:spPr>
      </p:pic>
      <p:sp>
        <p:nvSpPr>
          <p:cNvPr id="3" name="AutoShape 3"/>
          <p:cNvSpPr/>
          <p:nvPr/>
        </p:nvSpPr>
        <p:spPr>
          <a:xfrm>
            <a:off x="1170072" y="3569816"/>
            <a:ext cx="520155" cy="2583135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62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553710" y="274320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The primary objective is to identify trends in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uploads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views, 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and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subscribers.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 This involves analyzing engagement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efficiency,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 understanding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category-wise dominance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and providing actionable insights to improve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content strategy.</a:t>
            </a:r>
            <a:endParaRPr lang="en-US" sz="1100" b="1" dirty="0"/>
          </a:p>
        </p:txBody>
      </p:sp>
      <p:sp>
        <p:nvSpPr>
          <p:cNvPr id="5" name="TextBox 5"/>
          <p:cNvSpPr txBox="1"/>
          <p:nvPr/>
        </p:nvSpPr>
        <p:spPr>
          <a:xfrm>
            <a:off x="5553710" y="2064385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Defining Key Objectives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Problem Statement &amp; Goals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890" y="2864485"/>
            <a:ext cx="2138680" cy="13068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-02-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558030" y="2144395"/>
            <a:ext cx="6959600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C21227"/>
                </a:solidFill>
                <a:latin typeface="思源黑体 Medium"/>
                <a:ea typeface="思源黑体 Medium"/>
              </a:rPr>
              <a:t>Data Foundation &amp; Preparation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0.jpeg"/>
          <p:cNvPicPr>
            <a:picLocks noChangeAspect="1"/>
          </p:cNvPicPr>
          <p:nvPr/>
        </p:nvPicPr>
        <p:blipFill>
          <a:blip r:embed="rId3"/>
          <a:srcRect l="16703" r="16703"/>
          <a:stretch>
            <a:fillRect/>
          </a:stretch>
        </p:blipFill>
        <p:spPr>
          <a:xfrm>
            <a:off x="6325870" y="0"/>
            <a:ext cx="5866130" cy="5869940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847725" y="252349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The dataset includes essential features such as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Uploads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Subscribers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Total Views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and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Views in the last 30 days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. It also captures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Channel Type,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Category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, and various </a:t>
            </a:r>
            <a:r>
              <a:rPr lang="en-US" sz="1600" b="1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Ranking</a:t>
            </a:r>
            <a:r>
              <a:rPr lang="en-US" sz="16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 metrics to provide a comprehensive data foundation.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847725" y="1983740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Core Dataset Features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6" name="TextBox 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Dataset Overview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2951058"/>
          </a:xfrm>
          <a:custGeom>
            <a:avLst/>
            <a:gdLst/>
            <a:ahLst/>
            <a:cxnLst/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rgbClr val="FBE4E7"/>
          </a:solidFill>
          <a:ln>
            <a:noFill/>
            <a:prstDash val="solid"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100445" y="1935480"/>
            <a:ext cx="5368290" cy="4079875"/>
          </a:xfrm>
          <a:prstGeom prst="rect">
            <a:avLst/>
          </a:prstGeom>
          <a:solidFill>
            <a:srgbClr val="C21227"/>
          </a:solidFill>
          <a:ln>
            <a:noFill/>
            <a:prstDash val="solid"/>
          </a:ln>
          <a:effectLst>
            <a:outerShdw blurRad="177800" dist="88900" dir="12000000" algn="t" rotWithShape="0">
              <a:schemeClr val="accent1">
                <a:alpha val="8000"/>
                <a:lumMod val="75000"/>
              </a:schemeClr>
            </a:outerShdw>
          </a:effectLst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69.jpeg"/>
          <p:cNvPicPr>
            <a:picLocks noChangeAspect="1"/>
          </p:cNvPicPr>
          <p:nvPr/>
        </p:nvPicPr>
        <p:blipFill>
          <a:blip r:embed="rId3"/>
          <a:srcRect l="4818" r="4818"/>
          <a:stretch>
            <a:fillRect/>
          </a:stretch>
        </p:blipFill>
        <p:spPr>
          <a:xfrm>
            <a:off x="6320155" y="2153285"/>
            <a:ext cx="4929505" cy="364426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22325" y="2383473"/>
            <a:ext cx="5039995" cy="3413760"/>
            <a:chOff x="1805" y="3432"/>
            <a:chExt cx="7937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282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 lnSpcReduction="10000"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Several critical steps were taken to ensure data quality:
Removed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null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and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duplicate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values
Fixed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corrupted text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(encoding issues)
Converted columns to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numeric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format
Handled missing categorical values using "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Unknown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"
Removed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invalid records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(zero subscribers)
Clean data is fundamental for accurate analysis and reliable insights.</a:t>
              </a:r>
              <a:endParaRPr lang="en-US" sz="11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432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Ensuring Data Integrity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Data Cleaning &amp; Preparation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890" y="2864485"/>
            <a:ext cx="2138680" cy="13068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-03-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558030" y="2144395"/>
            <a:ext cx="6959600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C21227"/>
                </a:solidFill>
                <a:latin typeface="思源黑体 Medium"/>
                <a:ea typeface="思源黑体 Medium"/>
              </a:rPr>
              <a:t>Key Metrics &amp; Advanced Analysis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588930">
            <a:off x="6540336" y="1806132"/>
            <a:ext cx="4409684" cy="4328265"/>
          </a:xfrm>
          <a:custGeom>
            <a:avLst/>
            <a:gdLst/>
            <a:ahLst/>
            <a:cxnLst/>
            <a:rect l="l" t="t" r="r" b="b"/>
            <a:pathLst>
              <a:path w="2879096" h="2825937">
                <a:moveTo>
                  <a:pt x="155801" y="656522"/>
                </a:moveTo>
                <a:cubicBezTo>
                  <a:pt x="280483" y="472785"/>
                  <a:pt x="506988" y="388965"/>
                  <a:pt x="723967" y="435637"/>
                </a:cubicBezTo>
                <a:cubicBezTo>
                  <a:pt x="907228" y="475071"/>
                  <a:pt x="1281656" y="484786"/>
                  <a:pt x="1725140" y="102453"/>
                </a:cubicBezTo>
                <a:cubicBezTo>
                  <a:pt x="1725140" y="102453"/>
                  <a:pt x="2146336" y="-241209"/>
                  <a:pt x="2574960" y="330291"/>
                </a:cubicBezTo>
                <a:cubicBezTo>
                  <a:pt x="3003585" y="901791"/>
                  <a:pt x="2879760" y="1720941"/>
                  <a:pt x="2794035" y="1930491"/>
                </a:cubicBezTo>
                <a:cubicBezTo>
                  <a:pt x="2708310" y="2140041"/>
                  <a:pt x="2460660" y="2835366"/>
                  <a:pt x="1851061" y="2825841"/>
                </a:cubicBezTo>
                <a:cubicBezTo>
                  <a:pt x="1241461" y="2816316"/>
                  <a:pt x="1451011" y="2175093"/>
                  <a:pt x="603286" y="1933729"/>
                </a:cubicBezTo>
                <a:cubicBezTo>
                  <a:pt x="-244440" y="1692366"/>
                  <a:pt x="22260" y="920841"/>
                  <a:pt x="107985" y="739866"/>
                </a:cubicBezTo>
                <a:cubicBezTo>
                  <a:pt x="121606" y="711291"/>
                  <a:pt x="137608" y="683288"/>
                  <a:pt x="155801" y="656522"/>
                </a:cubicBezTo>
                <a:close/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pic>
        <p:nvPicPr>
          <p:cNvPr id="3" name="image68.jpeg"/>
          <p:cNvPicPr>
            <a:picLocks noChangeAspect="1"/>
          </p:cNvPicPr>
          <p:nvPr/>
        </p:nvPicPr>
        <p:blipFill rotWithShape="1">
          <a:blip r:embed="rId3"/>
          <a:srcRect l="14093" r="14093"/>
          <a:stretch>
            <a:fillRect/>
          </a:stretch>
        </p:blipFill>
        <p:spPr>
          <a:xfrm rot="21445174">
            <a:off x="6595864" y="1773479"/>
            <a:ext cx="4515311" cy="4189463"/>
          </a:xfrm>
          <a:custGeom>
            <a:avLst/>
            <a:gdLst/>
            <a:ahLst/>
            <a:cxnLst/>
            <a:rect l="0" t="0" r="0" b="0"/>
            <a:pathLst>
              <a:path w="4515311" h="4189463">
                <a:moveTo>
                  <a:pt x="1139864" y="1681"/>
                </a:moveTo>
                <a:cubicBezTo>
                  <a:pt x="1666331" y="38907"/>
                  <a:pt x="1958762" y="680183"/>
                  <a:pt x="3039740" y="494141"/>
                </a:cubicBezTo>
                <a:cubicBezTo>
                  <a:pt x="4370176" y="265163"/>
                  <a:pt x="4513638" y="1507199"/>
                  <a:pt x="4515307" y="1813904"/>
                </a:cubicBezTo>
                <a:cubicBezTo>
                  <a:pt x="4515453" y="1862388"/>
                  <a:pt x="4511932" y="1911661"/>
                  <a:pt x="4504565" y="1960680"/>
                </a:cubicBezTo>
                <a:cubicBezTo>
                  <a:pt x="4454282" y="2297034"/>
                  <a:pt x="4197159" y="2562971"/>
                  <a:pt x="3866646" y="2642434"/>
                </a:cubicBezTo>
                <a:cubicBezTo>
                  <a:pt x="3587485" y="2709528"/>
                  <a:pt x="3064108" y="2944432"/>
                  <a:pt x="2705395" y="3766393"/>
                </a:cubicBezTo>
                <a:cubicBezTo>
                  <a:pt x="2705395" y="3766393"/>
                  <a:pt x="2351807" y="4520184"/>
                  <a:pt x="1381038" y="4015432"/>
                </a:cubicBezTo>
                <a:cubicBezTo>
                  <a:pt x="410268" y="3510681"/>
                  <a:pt x="37969" y="2297647"/>
                  <a:pt x="17349" y="1951491"/>
                </a:cubicBezTo>
                <a:cubicBezTo>
                  <a:pt x="-3270" y="1605335"/>
                  <a:pt x="-122497" y="481134"/>
                  <a:pt x="725429" y="90005"/>
                </a:cubicBezTo>
                <a:cubicBezTo>
                  <a:pt x="884415" y="16668"/>
                  <a:pt x="1018371" y="-6910"/>
                  <a:pt x="1139864" y="1681"/>
                </a:cubicBezTo>
                <a:close/>
              </a:path>
            </a:pathLst>
          </a:custGeom>
          <a:ln w="12700">
            <a:solidFill>
              <a:srgbClr val="C21227"/>
            </a:solidFill>
          </a:ln>
        </p:spPr>
      </p:pic>
      <p:sp>
        <p:nvSpPr>
          <p:cNvPr id="4" name="AutoShape 4"/>
          <p:cNvSpPr/>
          <p:nvPr/>
        </p:nvSpPr>
        <p:spPr>
          <a:xfrm>
            <a:off x="8596676" y="1599311"/>
            <a:ext cx="256843" cy="256843"/>
          </a:xfrm>
          <a:prstGeom prst="ellipse">
            <a:avLst/>
          </a:prstGeom>
          <a:solidFill>
            <a:srgbClr val="C2122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0792" y="5491406"/>
            <a:ext cx="159747" cy="1597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825500" y="2161330"/>
            <a:ext cx="5425440" cy="3413760"/>
            <a:chOff x="1300" y="3002"/>
            <a:chExt cx="8544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300" y="3852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 lnSpcReduction="10000"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Key metrics were created to provide a quick performance overview: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Total Uploads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Maximum Uploads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Average Views (Last 30 Days)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Best View Rank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
These KPIs offer a snapshot of channel performance at a glance.</a:t>
              </a:r>
              <a:endParaRPr lang="en-US" sz="11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0" y="3002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Essential Performance Metrics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Key Performance Indicators (KPIs)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700000">
            <a:off x="10765790" y="5950585"/>
            <a:ext cx="492760" cy="492760"/>
          </a:xfrm>
          <a:prstGeom prst="rect">
            <a:avLst/>
          </a:prstGeom>
          <a:gradFill>
            <a:gsLst>
              <a:gs pos="2000">
                <a:srgbClr val="C21227"/>
              </a:gs>
              <a:gs pos="100000">
                <a:srgbClr val="FBE4E7"/>
              </a:gs>
            </a:gsLst>
            <a:lin ang="27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rot="2700000">
            <a:off x="7295193" y="912715"/>
            <a:ext cx="1193632" cy="1193632"/>
          </a:xfrm>
          <a:prstGeom prst="rect">
            <a:avLst/>
          </a:prstGeom>
          <a:gradFill>
            <a:gsLst>
              <a:gs pos="2000">
                <a:srgbClr val="C21227"/>
              </a:gs>
              <a:gs pos="100000">
                <a:srgbClr val="FBE4E7"/>
              </a:gs>
            </a:gsLst>
            <a:lin ang="2700000"/>
          </a:gra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75.jpeg"/>
          <p:cNvPicPr>
            <a:picLocks noChangeAspect="1"/>
          </p:cNvPicPr>
          <p:nvPr/>
        </p:nvPicPr>
        <p:blipFill>
          <a:blip r:embed="rId3"/>
          <a:srcRect l="24354" r="24354"/>
          <a:stretch>
            <a:fillRect/>
          </a:stretch>
        </p:blipFill>
        <p:spPr>
          <a:xfrm>
            <a:off x="6924519" y="9028"/>
            <a:ext cx="5267481" cy="6843717"/>
          </a:xfrm>
          <a:custGeom>
            <a:avLst/>
            <a:gdLst/>
            <a:ahLst/>
            <a:cxnLst/>
            <a:rect l="0" t="0" r="0" b="0"/>
            <a:pathLst>
              <a:path w="5267481" h="6843717">
                <a:moveTo>
                  <a:pt x="2404584" y="4158172"/>
                </a:moveTo>
                <a:lnTo>
                  <a:pt x="3951434" y="5705021"/>
                </a:lnTo>
                <a:lnTo>
                  <a:pt x="2812737" y="6843717"/>
                </a:lnTo>
                <a:lnTo>
                  <a:pt x="1996432" y="6843717"/>
                </a:lnTo>
                <a:lnTo>
                  <a:pt x="857735" y="5705021"/>
                </a:lnTo>
                <a:close/>
                <a:moveTo>
                  <a:pt x="1114899" y="2948647"/>
                </a:moveTo>
                <a:lnTo>
                  <a:pt x="2229798" y="4063546"/>
                </a:lnTo>
                <a:lnTo>
                  <a:pt x="1114899" y="5178445"/>
                </a:lnTo>
                <a:lnTo>
                  <a:pt x="0" y="4063546"/>
                </a:lnTo>
                <a:close/>
                <a:moveTo>
                  <a:pt x="3778600" y="0"/>
                </a:moveTo>
                <a:lnTo>
                  <a:pt x="4460202" y="0"/>
                </a:lnTo>
                <a:lnTo>
                  <a:pt x="5267481" y="807279"/>
                </a:lnTo>
                <a:lnTo>
                  <a:pt x="5267481" y="4384207"/>
                </a:lnTo>
                <a:lnTo>
                  <a:pt x="4119401" y="5532287"/>
                </a:lnTo>
                <a:lnTo>
                  <a:pt x="1182857" y="2595743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5" name="Group 5"/>
          <p:cNvGrpSpPr/>
          <p:nvPr/>
        </p:nvGrpSpPr>
        <p:grpSpPr>
          <a:xfrm>
            <a:off x="873125" y="2162156"/>
            <a:ext cx="5730875" cy="3413760"/>
            <a:chOff x="1805" y="3251"/>
            <a:chExt cx="7936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Calculated fields provide deeper insights into channel dynamics: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Viewed by Subscriber: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Measures engagement efficiency.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Consistency Score: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Compares recent performance against uploads.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Subscriber Power: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Indicates brand strength.
These advanced metrics are crucial for understanding performance beyond surface-level numbers.</a:t>
              </a:r>
              <a:endParaRPr lang="en-US" sz="11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Beyond Basic Metrics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Advanced Metrics &amp; Insights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890" y="2864485"/>
            <a:ext cx="2138680" cy="13068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-04-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558030" y="2144395"/>
            <a:ext cx="6959600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C21227"/>
                </a:solidFill>
                <a:latin typeface="思源黑体 Medium"/>
                <a:ea typeface="思源黑体 Medium"/>
              </a:rPr>
              <a:t>Visualizations &amp; Key Findings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9085" y="2458085"/>
            <a:ext cx="8077200" cy="2881630"/>
          </a:xfrm>
          <a:prstGeom prst="rect">
            <a:avLst/>
          </a:prstGeom>
          <a:solidFill>
            <a:srgbClr val="FBE4E7"/>
          </a:solidFill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ctr">
              <a:lnSpc>
                <a:spcPts val="2660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685800" y="1871345"/>
            <a:ext cx="4126865" cy="412686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21227"/>
          </a:solidFill>
          <a:ln cap="sq">
            <a:noFill/>
            <a:prstDash val="solid"/>
            <a:miter lim="800000"/>
          </a:ln>
        </p:spPr>
      </p:sp>
      <p:sp>
        <p:nvSpPr>
          <p:cNvPr id="4" name="Freeform 4"/>
          <p:cNvSpPr/>
          <p:nvPr/>
        </p:nvSpPr>
        <p:spPr>
          <a:xfrm>
            <a:off x="798195" y="1985645"/>
            <a:ext cx="3902075" cy="3898265"/>
          </a:xfrm>
          <a:custGeom>
            <a:avLst/>
            <a:gdLst/>
            <a:ahLst/>
            <a:cxnLst/>
            <a:rect l="l" t="t" r="r" b="b"/>
            <a:pathLst>
              <a:path w="5839079" h="5833364">
                <a:moveTo>
                  <a:pt x="0" y="2916682"/>
                </a:moveTo>
                <a:cubicBezTo>
                  <a:pt x="0" y="1305814"/>
                  <a:pt x="1307084" y="0"/>
                  <a:pt x="2919603" y="0"/>
                </a:cubicBezTo>
                <a:cubicBezTo>
                  <a:pt x="4532122" y="0"/>
                  <a:pt x="5839079" y="1305814"/>
                  <a:pt x="5839079" y="2916682"/>
                </a:cubicBezTo>
                <a:cubicBezTo>
                  <a:pt x="5839079" y="4527550"/>
                  <a:pt x="4531995" y="5833364"/>
                  <a:pt x="2919603" y="5833364"/>
                </a:cubicBezTo>
                <a:cubicBezTo>
                  <a:pt x="1307211" y="5833364"/>
                  <a:pt x="0" y="4527550"/>
                  <a:pt x="0" y="2916682"/>
                </a:cubicBezTo>
                <a:close/>
              </a:path>
            </a:pathLst>
          </a:custGeom>
          <a:blipFill rotWithShape="1">
            <a:blip r:embed="rId3"/>
            <a:stretch>
              <a:fillRect l="-30892" r="-3089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Visualizations &amp; Insights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191760" y="3215005"/>
            <a:ext cx="6480175" cy="1800225"/>
          </a:xfrm>
          <a:prstGeom prst="rect">
            <a:avLst/>
          </a:prstGeom>
        </p:spPr>
        <p:txBody>
          <a:bodyPr vert="horz" lIns="90170" tIns="46990" rIns="90170" bIns="46990" rtlCol="0" anchor="t">
            <a:normAutofit fontScale="92500" lnSpcReduction="20000"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The dashboard utilizes several key visuals to tell a data story:
</a:t>
            </a:r>
            <a:r>
              <a:rPr lang="en-US" sz="1538" b="1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Line Chart: </a:t>
            </a: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Tracks high upload creators (&gt;200K uploads).
</a:t>
            </a:r>
            <a:r>
              <a:rPr lang="en-US" sz="1538" b="1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Radar Chart: </a:t>
            </a: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Compares channel type vs. rank.
</a:t>
            </a:r>
            <a:r>
              <a:rPr lang="en-US" sz="1538" b="1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Packed Bubble Chart: </a:t>
            </a: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Visualizes category-wise subscribers.
</a:t>
            </a:r>
            <a:r>
              <a:rPr lang="en-US" sz="1538" b="1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Pie Chart: </a:t>
            </a: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Shows subscriber distribution.
</a:t>
            </a:r>
            <a:r>
              <a:rPr lang="en-US" sz="1538" b="1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Bar Chart: </a:t>
            </a:r>
            <a:r>
              <a:rPr lang="en-US" sz="1538" b="0" i="0" u="none" baseline="0" dirty="0">
                <a:solidFill>
                  <a:srgbClr val="000000"/>
                </a:solidFill>
                <a:latin typeface="思源黑体 Normal"/>
                <a:ea typeface="思源黑体 Normal"/>
              </a:rPr>
              <a:t>Ranks Top 10 channels by engagement efficiency.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5191760" y="2783205"/>
            <a:ext cx="6480175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C21227"/>
                </a:solidFill>
                <a:latin typeface="思源黑体 Normal"/>
                <a:ea typeface="思源黑体 Normal"/>
              </a:rPr>
              <a:t>Key Visual Representations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705" y="1285875"/>
            <a:ext cx="8056245" cy="5211445"/>
          </a:xfrm>
          <a:prstGeom prst="rect">
            <a:avLst/>
          </a:prstGeom>
          <a:solidFill>
            <a:srgbClr val="FBE4E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73.jpeg"/>
          <p:cNvPicPr>
            <a:picLocks noChangeAspect="1"/>
          </p:cNvPicPr>
          <p:nvPr/>
        </p:nvPicPr>
        <p:blipFill rotWithShape="1">
          <a:blip r:embed="rId3"/>
          <a:srcRect l="1416" r="1416"/>
          <a:stretch>
            <a:fillRect/>
          </a:stretch>
        </p:blipFill>
        <p:spPr>
          <a:xfrm>
            <a:off x="6305550" y="1873250"/>
            <a:ext cx="5886450" cy="4036695"/>
          </a:xfrm>
          <a:custGeom>
            <a:avLst/>
            <a:gdLst/>
            <a:ahLst/>
            <a:cxnLst/>
            <a:rect l="0" t="0" r="0" b="0"/>
            <a:pathLst>
              <a:path w="6120000" h="4500000">
                <a:moveTo>
                  <a:pt x="0" y="0"/>
                </a:moveTo>
                <a:lnTo>
                  <a:pt x="6120000" y="0"/>
                </a:lnTo>
                <a:lnTo>
                  <a:pt x="6120000" y="4500000"/>
                </a:lnTo>
                <a:lnTo>
                  <a:pt x="0" y="4500000"/>
                </a:lnTo>
                <a:close/>
              </a:path>
            </a:pathLst>
          </a:custGeom>
          <a:ln w="6350">
            <a:solidFill>
              <a:schemeClr val="tx1">
                <a:alpha val="50000"/>
                <a:lumMod val="40000"/>
                <a:lumOff val="60000"/>
              </a:schemeClr>
            </a:solidFill>
          </a:ln>
          <a:effectLst>
            <a:outerShdw blurRad="254000" dist="381000" dir="8400000" algn="t" rotWithShape="0">
              <a:schemeClr val="accent1">
                <a:alpha val="15000"/>
                <a:lumMod val="50000"/>
              </a:schemeClr>
            </a:outerShdw>
          </a:effectLst>
        </p:spPr>
      </p:pic>
      <p:grpSp>
        <p:nvGrpSpPr>
          <p:cNvPr id="4" name="Group 4"/>
          <p:cNvGrpSpPr/>
          <p:nvPr/>
        </p:nvGrpSpPr>
        <p:grpSpPr>
          <a:xfrm>
            <a:off x="873125" y="2184718"/>
            <a:ext cx="4913630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analysis revealed several critical insights: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High subscribers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do not always mean high engagement.
Certain categories dominate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audience share.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
Some smaller channels outperform larger ones in efficiency.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Content consistency significantly impacts performance.</a:t>
              </a:r>
              <a:endParaRPr lang="en-US" sz="1100" b="1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Actionable Discoveries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Key Insights &amp; Findings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0890" y="2864485"/>
            <a:ext cx="2138680" cy="130683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spc="400" baseline="0">
                <a:ln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-05-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558030" y="2144395"/>
            <a:ext cx="6959600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400" baseline="0">
                <a:solidFill>
                  <a:srgbClr val="C21227"/>
                </a:solidFill>
                <a:latin typeface="思源黑体 Medium"/>
                <a:ea typeface="思源黑体 Medium"/>
              </a:rPr>
              <a:t>Conclusion &amp; Future Scope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2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5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97511">
            <a:off x="7518101" y="3076646"/>
            <a:ext cx="4547187" cy="2296043"/>
          </a:xfrm>
          <a:custGeom>
            <a:avLst/>
            <a:gdLst/>
            <a:ahLst/>
            <a:cxnLst/>
            <a:rect l="l" t="t" r="r" b="b"/>
            <a:pathLst>
              <a:path w="2249936" h="1136076">
                <a:moveTo>
                  <a:pt x="58" y="1136076"/>
                </a:moveTo>
                <a:cubicBezTo>
                  <a:pt x="-6169" y="514639"/>
                  <a:pt x="492725" y="6031"/>
                  <a:pt x="1113913" y="53"/>
                </a:cubicBezTo>
                <a:cubicBezTo>
                  <a:pt x="1735102" y="-5925"/>
                  <a:pt x="2243959" y="492720"/>
                  <a:pt x="2249937" y="1113909"/>
                </a:cubicBezTo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 rot="20405484">
            <a:off x="7361315" y="5194202"/>
            <a:ext cx="240930" cy="240930"/>
          </a:xfrm>
          <a:prstGeom prst="ellipse">
            <a:avLst/>
          </a:prstGeom>
          <a:solidFill>
            <a:srgbClr val="C2122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20405484">
            <a:off x="10230193" y="1655872"/>
            <a:ext cx="167489" cy="167489"/>
          </a:xfrm>
          <a:prstGeom prst="ellipse">
            <a:avLst/>
          </a:prstGeom>
          <a:solidFill>
            <a:srgbClr val="C2122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5" name="image70.jpeg"/>
          <p:cNvPicPr>
            <a:picLocks noChangeAspect="1"/>
          </p:cNvPicPr>
          <p:nvPr/>
        </p:nvPicPr>
        <p:blipFill rotWithShape="1">
          <a:blip r:embed="rId3"/>
          <a:srcRect l="16642" r="16642"/>
          <a:stretch>
            <a:fillRect/>
          </a:stretch>
        </p:blipFill>
        <p:spPr>
          <a:xfrm>
            <a:off x="7129539" y="1728813"/>
            <a:ext cx="3624483" cy="3624483"/>
          </a:xfrm>
          <a:custGeom>
            <a:avLst/>
            <a:gdLst/>
            <a:ahLst/>
            <a:cxnLst/>
            <a:rect l="0" t="0" r="0" b="0"/>
            <a:pathLst>
              <a:path w="5263" h="5263">
                <a:moveTo>
                  <a:pt x="2631" y="0"/>
                </a:moveTo>
                <a:cubicBezTo>
                  <a:pt x="4085" y="0"/>
                  <a:pt x="5263" y="1178"/>
                  <a:pt x="5263" y="2631"/>
                </a:cubicBezTo>
                <a:cubicBezTo>
                  <a:pt x="5263" y="4085"/>
                  <a:pt x="4085" y="5263"/>
                  <a:pt x="2631" y="5263"/>
                </a:cubicBezTo>
                <a:cubicBezTo>
                  <a:pt x="1178" y="5263"/>
                  <a:pt x="0" y="4085"/>
                  <a:pt x="0" y="2631"/>
                </a:cubicBezTo>
                <a:cubicBezTo>
                  <a:pt x="0" y="1178"/>
                  <a:pt x="1178" y="0"/>
                  <a:pt x="2631" y="0"/>
                </a:cubicBezTo>
                <a:close/>
              </a:path>
            </a:pathLst>
          </a:custGeom>
          <a:ln w="6350">
            <a:solidFill>
              <a:schemeClr val="tx1">
                <a:alpha val="20000"/>
                <a:lumMod val="40000"/>
                <a:lumOff val="60000"/>
              </a:schemeClr>
            </a:solidFill>
          </a:ln>
        </p:spPr>
      </p:pic>
      <p:sp>
        <p:nvSpPr>
          <p:cNvPr id="6" name="AutoShape 6"/>
          <p:cNvSpPr/>
          <p:nvPr/>
        </p:nvSpPr>
        <p:spPr>
          <a:xfrm>
            <a:off x="10771929" y="5468954"/>
            <a:ext cx="167489" cy="167489"/>
          </a:xfrm>
          <a:prstGeom prst="ellipse">
            <a:avLst/>
          </a:prstGeom>
          <a:solidFill>
            <a:srgbClr val="C2122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828040" y="1834175"/>
            <a:ext cx="5039360" cy="3413760"/>
            <a:chOff x="1304" y="2888"/>
            <a:chExt cx="7936" cy="5376"/>
          </a:xfrm>
        </p:grpSpPr>
        <p:sp>
          <p:nvSpPr>
            <p:cNvPr id="8" name="TextBox 8"/>
            <p:cNvSpPr txBox="1"/>
            <p:nvPr/>
          </p:nvSpPr>
          <p:spPr>
            <a:xfrm>
              <a:off x="1304" y="3738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project successfully built an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interactive,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insight-driven dashboard 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that enables 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better content strategy decisions.</a:t>
              </a:r>
              <a:r>
                <a:rPr lang="en-US" sz="1600" b="0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 Future improvements include:
</a:t>
              </a:r>
              <a:r>
                <a:rPr lang="en-US" sz="1600" b="1" i="0" u="none" baseline="0" dirty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Adding real-time data integration.
Integrating predictive analytics.
Building a recommendation system.</a:t>
              </a:r>
              <a:endParaRPr lang="en-US" sz="1100" b="1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4" y="2888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C21227"/>
                  </a:solidFill>
                  <a:latin typeface="思源黑体 Normal"/>
                  <a:ea typeface="思源黑体 Normal"/>
                </a:rPr>
                <a:t>Summary and Next Steps</a:t>
              </a:r>
              <a:endParaRPr lang="en-US" sz="110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C21227"/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C21227"/>
                </a:solidFill>
                <a:latin typeface="思源黑体 Normal"/>
                <a:ea typeface="思源黑体 Normal"/>
              </a:rPr>
              <a:t>Conclusion &amp; Future Scope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72573" y="771847"/>
            <a:ext cx="5538415" cy="5538415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38384" y="1497281"/>
            <a:ext cx="582202" cy="582202"/>
          </a:xfrm>
          <a:prstGeom prst="ellipse">
            <a:avLst/>
          </a:prstGeom>
          <a:solidFill>
            <a:srgbClr val="C21227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" y="990600"/>
            <a:ext cx="7820571" cy="26033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algn="dist">
              <a:defRPr/>
            </a:pPr>
            <a:r>
              <a:rPr lang="zh-CN" altLang="en-US" sz="8800" b="1" i="0" u="none" spc="500" baseline="0" dirty="0">
                <a:ln w="38100"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Thank you for wa</a:t>
            </a:r>
            <a:r>
              <a:rPr lang="en-IN" altLang="zh-CN" sz="8800" b="1" spc="500" dirty="0">
                <a:ln w="38100"/>
                <a:solidFill>
                  <a:srgbClr val="C21227"/>
                </a:solidFill>
                <a:latin typeface="思源黑体 Medium"/>
                <a:ea typeface="思源黑体 Medium"/>
              </a:rPr>
              <a:t>t</a:t>
            </a:r>
            <a:r>
              <a:rPr lang="zh-CN" altLang="en-US" sz="8800" b="1" i="0" u="none" spc="500" baseline="0" dirty="0">
                <a:ln w="38100"/>
                <a:solidFill>
                  <a:srgbClr val="C21227"/>
                </a:solidFill>
                <a:effectLst/>
                <a:latin typeface="思源黑体 Medium"/>
                <a:ea typeface="思源黑体 Medium"/>
              </a:rPr>
              <a:t>ching.</a:t>
            </a:r>
            <a:endParaRPr lang="en-US" sz="1100" dirty="0"/>
          </a:p>
        </p:txBody>
      </p:sp>
      <p:grpSp>
        <p:nvGrpSpPr>
          <p:cNvPr id="3" name="Group 3"/>
          <p:cNvGrpSpPr/>
          <p:nvPr/>
        </p:nvGrpSpPr>
        <p:grpSpPr>
          <a:xfrm>
            <a:off x="1400038" y="4268446"/>
            <a:ext cx="7362962" cy="369332"/>
            <a:chOff x="3916801" y="3753992"/>
            <a:chExt cx="6784975" cy="369332"/>
          </a:xfrm>
          <a:noFill/>
        </p:grpSpPr>
        <p:sp>
          <p:nvSpPr>
            <p:cNvPr id="4" name="TextBox 4"/>
            <p:cNvSpPr txBox="1"/>
            <p:nvPr/>
          </p:nvSpPr>
          <p:spPr>
            <a:xfrm>
              <a:off x="3916801" y="3753992"/>
              <a:ext cx="269494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IN" dirty="0">
                  <a:solidFill>
                    <a:srgbClr val="ED374D"/>
                  </a:solidFill>
                  <a:latin typeface="思源黑体 Normal"/>
                </a:rPr>
                <a:t>SAI SRIKAR BOMMISETTY</a:t>
              </a:r>
              <a:endParaRPr lang="en-US" sz="1100" dirty="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837166" y="3753992"/>
              <a:ext cx="3864610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zh-CN" altLang="en-US" sz="1800" b="0" i="0" u="none" baseline="0" dirty="0">
                  <a:solidFill>
                    <a:srgbClr val="ED374D"/>
                  </a:solidFill>
                  <a:latin typeface="思源黑体 Normal"/>
                  <a:ea typeface="思源黑体 Normal"/>
                </a:rPr>
                <a:t>Date:</a:t>
              </a:r>
              <a:r>
                <a:rPr lang="en-US" sz="1800" b="0" i="0" u="none" baseline="0" dirty="0">
                  <a:solidFill>
                    <a:srgbClr val="ED374D"/>
                  </a:solidFill>
                  <a:latin typeface="思源黑体 Normal"/>
                  <a:ea typeface="思源黑体 Normal"/>
                </a:rPr>
                <a:t>2026-03-24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953770" y="4268446"/>
            <a:ext cx="354330" cy="35433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269699" y="4282416"/>
            <a:ext cx="354330" cy="35433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 dirty="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C21227"/>
      </a:dk2>
      <a:lt2>
        <a:srgbClr val="FFFFFF"/>
      </a:lt2>
      <a:accent1>
        <a:srgbClr val="C21227"/>
      </a:accent1>
      <a:accent2>
        <a:srgbClr val="C21227"/>
      </a:accent2>
      <a:accent3>
        <a:srgbClr val="C21227"/>
      </a:accent3>
      <a:accent4>
        <a:srgbClr val="C21227"/>
      </a:accent4>
      <a:accent5>
        <a:srgbClr val="C21227"/>
      </a:accent5>
      <a:accent6>
        <a:srgbClr val="C21227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572</Words>
  <Application>Microsoft Office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YaHei</vt:lpstr>
      <vt:lpstr>Arial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SRIKAR BOMMISETTY</cp:lastModifiedBy>
  <cp:revision>3</cp:revision>
  <dcterms:created xsi:type="dcterms:W3CDTF">2026-03-28T20:15:41Z</dcterms:created>
  <dcterms:modified xsi:type="dcterms:W3CDTF">2026-03-28T20:31:27Z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{"ContentPropagator":"文多多","Label":"1","ReservedCode1":"1774728941388","ProduceID":"wenduoduo-pptx-1774728941388","ReservedCode2":"1774728941388","PropagateID":"wenduoduo-pptx1774728941388","ContentProducer":"文多多"}</vt:lpwstr>
  </property>
</Properties>
</file>